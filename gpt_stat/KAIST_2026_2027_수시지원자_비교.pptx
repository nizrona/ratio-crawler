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2026학년도</c:v>
                </c:pt>
              </c:strCache>
            </c:strRef>
          </c:tx>
          <c:spPr>
            <a:ln w="27940">
              <a:solidFill>
                <a:srgbClr val="787878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78787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787878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235</c:v>
                </c:pt>
                <c:pt idx="1">
                  <c:v>440</c:v>
                </c:pt>
                <c:pt idx="2">
                  <c:v>602</c:v>
                </c:pt>
                <c:pt idx="3">
                  <c:v>718</c:v>
                </c:pt>
                <c:pt idx="4">
                  <c:v>847</c:v>
                </c:pt>
                <c:pt idx="5">
                  <c:v>995</c:v>
                </c:pt>
                <c:pt idx="6">
                  <c:v>1178</c:v>
                </c:pt>
                <c:pt idx="7">
                  <c:v>1411</c:v>
                </c:pt>
                <c:pt idx="8">
                  <c:v>1889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2027학년도</c:v>
                </c:pt>
              </c:strCache>
            </c:strRef>
          </c:tx>
          <c:spPr>
            <a:ln w="38100">
              <a:solidFill>
                <a:srgbClr val="005BAC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005BAC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005BAC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236</c:v>
                </c:pt>
                <c:pt idx="1">
                  <c:v>359</c:v>
                </c:pt>
                <c:pt idx="2">
                  <c:v>477</c:v>
                </c:pt>
                <c:pt idx="3">
                  <c:v>569</c:v>
                </c:pt>
                <c:pt idx="4">
                  <c:v>715</c:v>
                </c:pt>
                <c:pt idx="5">
                  <c:v>926</c:v>
                </c:pt>
                <c:pt idx="6">
                  <c:v>1217</c:v>
                </c:pt>
                <c:pt idx="7">
                  <c:v>1682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464646"/>
                    </a:solidFill>
                    <a:latin typeface="맑은 고딕"/>
                  </a:rPr>
                  <a:t>접수일차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500.0"/>
          <c:min val="-5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300" b="0">
                    <a:solidFill>
                      <a:srgbClr val="1E1E1E"/>
                    </a:solidFill>
                    <a:latin typeface="맑은 고딕"/>
                  </a:rPr>
                  <a:t>누적 지원인원</a:t>
                </a:r>
              </a:p>
            </c:rich>
          </c:tx>
          <c:layout/>
          <c:overlay val="0"/>
        </c:title>
        <c:numFmt formatCode="#,##0;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18791784"/>
        <c:crosses val="autoZero"/>
        <c:majorUnit val="500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2026학년도</c:v>
                </c:pt>
              </c:strCache>
            </c:strRef>
          </c:tx>
          <c:spPr>
            <a:ln w="27940">
              <a:solidFill>
                <a:srgbClr val="787878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78787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787878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</c:v>
                </c:pt>
                <c:pt idx="1">
                  <c:v>42</c:v>
                </c:pt>
                <c:pt idx="2">
                  <c:v>96</c:v>
                </c:pt>
                <c:pt idx="3">
                  <c:v>165</c:v>
                </c:pt>
                <c:pt idx="4">
                  <c:v>209</c:v>
                </c:pt>
                <c:pt idx="5">
                  <c:v>248</c:v>
                </c:pt>
                <c:pt idx="6">
                  <c:v>352</c:v>
                </c:pt>
                <c:pt idx="7">
                  <c:v>550</c:v>
                </c:pt>
                <c:pt idx="8">
                  <c:v>1313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2027학년도</c:v>
                </c:pt>
              </c:strCache>
            </c:strRef>
          </c:tx>
          <c:spPr>
            <a:ln w="38100">
              <a:solidFill>
                <a:srgbClr val="005BAC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005BAC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005BAC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</c:v>
                </c:pt>
                <c:pt idx="1">
                  <c:v>20</c:v>
                </c:pt>
                <c:pt idx="2">
                  <c:v>31</c:v>
                </c:pt>
                <c:pt idx="3">
                  <c:v>69</c:v>
                </c:pt>
                <c:pt idx="4">
                  <c:v>106</c:v>
                </c:pt>
                <c:pt idx="5">
                  <c:v>148</c:v>
                </c:pt>
                <c:pt idx="6">
                  <c:v>228</c:v>
                </c:pt>
                <c:pt idx="7">
                  <c:v>402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464646"/>
                    </a:solidFill>
                    <a:latin typeface="맑은 고딕"/>
                  </a:rPr>
                  <a:t>접수일차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.0"/>
          <c:min val="-5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300" b="0">
                    <a:solidFill>
                      <a:srgbClr val="1E1E1E"/>
                    </a:solidFill>
                    <a:latin typeface="맑은 고딕"/>
                  </a:rPr>
                  <a:t>누적 지원인원</a:t>
                </a:r>
              </a:p>
            </c:rich>
          </c:tx>
          <c:layout/>
          <c:overlay val="0"/>
        </c:title>
        <c:numFmt formatCode="#,##0;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18791784"/>
        <c:crosses val="autoZero"/>
        <c:majorUnit val="500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2026학년도</c:v>
                </c:pt>
              </c:strCache>
            </c:strRef>
          </c:tx>
          <c:spPr>
            <a:ln w="27940">
              <a:solidFill>
                <a:srgbClr val="787878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78787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787878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260</c:v>
                </c:pt>
                <c:pt idx="1">
                  <c:v>515</c:v>
                </c:pt>
                <c:pt idx="2">
                  <c:v>721</c:v>
                </c:pt>
                <c:pt idx="3">
                  <c:v>870</c:v>
                </c:pt>
                <c:pt idx="4">
                  <c:v>1049</c:v>
                </c:pt>
                <c:pt idx="5">
                  <c:v>1254</c:v>
                </c:pt>
                <c:pt idx="6">
                  <c:v>1543</c:v>
                </c:pt>
                <c:pt idx="7">
                  <c:v>1860</c:v>
                </c:pt>
                <c:pt idx="8">
                  <c:v>2675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2027학년도</c:v>
                </c:pt>
              </c:strCache>
            </c:strRef>
          </c:tx>
          <c:spPr>
            <a:ln w="38100">
              <a:solidFill>
                <a:srgbClr val="005BAC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005BAC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005BAC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258</c:v>
                </c:pt>
                <c:pt idx="1">
                  <c:v>382</c:v>
                </c:pt>
                <c:pt idx="2">
                  <c:v>510</c:v>
                </c:pt>
                <c:pt idx="3">
                  <c:v>616</c:v>
                </c:pt>
                <c:pt idx="4">
                  <c:v>770</c:v>
                </c:pt>
                <c:pt idx="5">
                  <c:v>1002</c:v>
                </c:pt>
                <c:pt idx="6">
                  <c:v>1333</c:v>
                </c:pt>
                <c:pt idx="7">
                  <c:v>1870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464646"/>
                    </a:solidFill>
                    <a:latin typeface="맑은 고딕"/>
                  </a:rPr>
                  <a:t>접수일차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500.0"/>
          <c:min val="-5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300" b="0">
                    <a:solidFill>
                      <a:srgbClr val="1E1E1E"/>
                    </a:solidFill>
                    <a:latin typeface="맑은 고딕"/>
                  </a:rPr>
                  <a:t>누적 지원인원</a:t>
                </a:r>
              </a:p>
            </c:rich>
          </c:tx>
          <c:layout/>
          <c:overlay val="0"/>
        </c:title>
        <c:numFmt formatCode="#,##0;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18791784"/>
        <c:crosses val="autoZero"/>
        <c:majorUnit val="500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2026학년도</c:v>
                </c:pt>
              </c:strCache>
            </c:strRef>
          </c:tx>
          <c:spPr>
            <a:ln w="27940">
              <a:solidFill>
                <a:srgbClr val="787878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78787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787878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25</c:v>
                </c:pt>
                <c:pt idx="2">
                  <c:v>55</c:v>
                </c:pt>
                <c:pt idx="3">
                  <c:v>79</c:v>
                </c:pt>
                <c:pt idx="4">
                  <c:v>100</c:v>
                </c:pt>
                <c:pt idx="5">
                  <c:v>127</c:v>
                </c:pt>
                <c:pt idx="6">
                  <c:v>194</c:v>
                </c:pt>
                <c:pt idx="7">
                  <c:v>282</c:v>
                </c:pt>
                <c:pt idx="8">
                  <c:v>457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2027학년도</c:v>
                </c:pt>
              </c:strCache>
            </c:strRef>
          </c:tx>
          <c:spPr>
            <a:ln w="38100">
              <a:solidFill>
                <a:srgbClr val="005BAC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005BAC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005BAC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</c:v>
                </c:pt>
                <c:pt idx="1">
                  <c:v>24</c:v>
                </c:pt>
                <c:pt idx="2">
                  <c:v>43</c:v>
                </c:pt>
                <c:pt idx="3">
                  <c:v>62</c:v>
                </c:pt>
                <c:pt idx="4">
                  <c:v>79</c:v>
                </c:pt>
                <c:pt idx="5">
                  <c:v>102</c:v>
                </c:pt>
                <c:pt idx="6">
                  <c:v>155</c:v>
                </c:pt>
                <c:pt idx="7">
                  <c:v>258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464646"/>
                    </a:solidFill>
                    <a:latin typeface="맑은 고딕"/>
                  </a:rPr>
                  <a:t>접수일차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.0"/>
          <c:min val="-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300" b="0">
                    <a:solidFill>
                      <a:srgbClr val="1E1E1E"/>
                    </a:solidFill>
                    <a:latin typeface="맑은 고딕"/>
                  </a:rPr>
                  <a:t>누적 지원인원</a:t>
                </a:r>
              </a:p>
            </c:rich>
          </c:tx>
          <c:layout/>
          <c:overlay val="0"/>
        </c:title>
        <c:numFmt formatCode="#,##0;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18791784"/>
        <c:crosses val="autoZero"/>
        <c:majorUnit val="100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2026학년도</c:v>
                </c:pt>
              </c:strCache>
            </c:strRef>
          </c:tx>
          <c:spPr>
            <a:ln w="27940">
              <a:solidFill>
                <a:srgbClr val="787878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78787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787878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</c:v>
                </c:pt>
                <c:pt idx="1">
                  <c:v>29</c:v>
                </c:pt>
                <c:pt idx="2">
                  <c:v>45</c:v>
                </c:pt>
                <c:pt idx="3">
                  <c:v>67</c:v>
                </c:pt>
                <c:pt idx="4">
                  <c:v>73</c:v>
                </c:pt>
                <c:pt idx="5">
                  <c:v>88</c:v>
                </c:pt>
                <c:pt idx="6">
                  <c:v>100</c:v>
                </c:pt>
                <c:pt idx="7">
                  <c:v>122</c:v>
                </c:pt>
                <c:pt idx="8">
                  <c:v>237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2027학년도</c:v>
                </c:pt>
              </c:strCache>
            </c:strRef>
          </c:tx>
          <c:spPr>
            <a:ln w="38100">
              <a:solidFill>
                <a:srgbClr val="005BAC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005BAC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005BAC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</c:v>
                </c:pt>
                <c:pt idx="1">
                  <c:v>25</c:v>
                </c:pt>
                <c:pt idx="2">
                  <c:v>34</c:v>
                </c:pt>
                <c:pt idx="3">
                  <c:v>41</c:v>
                </c:pt>
                <c:pt idx="4">
                  <c:v>53</c:v>
                </c:pt>
                <c:pt idx="5">
                  <c:v>69</c:v>
                </c:pt>
                <c:pt idx="6">
                  <c:v>104</c:v>
                </c:pt>
                <c:pt idx="7">
                  <c:v>132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464646"/>
                    </a:solidFill>
                    <a:latin typeface="맑은 고딕"/>
                  </a:rPr>
                  <a:t>접수일차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0.0"/>
          <c:min val="-5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300" b="0">
                    <a:solidFill>
                      <a:srgbClr val="1E1E1E"/>
                    </a:solidFill>
                    <a:latin typeface="맑은 고딕"/>
                  </a:rPr>
                  <a:t>누적 지원인원</a:t>
                </a:r>
              </a:p>
            </c:rich>
          </c:tx>
          <c:layout/>
          <c:overlay val="0"/>
        </c:title>
        <c:numFmt formatCode="#,##0;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18791784"/>
        <c:crosses val="autoZero"/>
        <c:majorUnit val="50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2026학년도</c:v>
                </c:pt>
              </c:strCache>
            </c:strRef>
          </c:tx>
          <c:spPr>
            <a:ln w="27940">
              <a:solidFill>
                <a:srgbClr val="787878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78787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787878"/>
                      </a:solidFill>
                      <a:latin typeface="맑은 고딕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787878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</c:v>
                </c:pt>
                <c:pt idx="1">
                  <c:v>55</c:v>
                </c:pt>
                <c:pt idx="2">
                  <c:v>93</c:v>
                </c:pt>
                <c:pt idx="3">
                  <c:v>114</c:v>
                </c:pt>
                <c:pt idx="4">
                  <c:v>147</c:v>
                </c:pt>
                <c:pt idx="5">
                  <c:v>174</c:v>
                </c:pt>
                <c:pt idx="6">
                  <c:v>228</c:v>
                </c:pt>
                <c:pt idx="7">
                  <c:v>285</c:v>
                </c:pt>
                <c:pt idx="8">
                  <c:v>420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2027학년도</c:v>
                </c:pt>
              </c:strCache>
            </c:strRef>
          </c:tx>
          <c:spPr>
            <a:ln w="38100">
              <a:solidFill>
                <a:srgbClr val="005BAC"/>
              </a:solidFill>
            </a:ln>
          </c:spPr>
          <c:marker>
            <c:symbol val="circle"/>
            <c:size val="11"/>
            <c:spPr>
              <a:solidFill>
                <a:srgbClr val="FFFFFF"/>
              </a:solidFill>
              <a:ln w="25400">
                <a:solidFill>
                  <a:srgbClr val="005BAC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700" b="1">
                      <a:solidFill>
                        <a:srgbClr val="005BAC"/>
                      </a:solidFill>
                      <a:latin typeface="맑은 고딕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700" b="1">
                    <a:solidFill>
                      <a:srgbClr val="005BAC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1일차</c:v>
                </c:pt>
                <c:pt idx="1">
                  <c:v>2일차</c:v>
                </c:pt>
                <c:pt idx="2">
                  <c:v>3일차</c:v>
                </c:pt>
                <c:pt idx="3">
                  <c:v>4일차</c:v>
                </c:pt>
                <c:pt idx="4">
                  <c:v>5일차</c:v>
                </c:pt>
                <c:pt idx="5">
                  <c:v>6일차</c:v>
                </c:pt>
                <c:pt idx="6">
                  <c:v>7일차</c:v>
                </c:pt>
                <c:pt idx="7">
                  <c:v>8일차</c:v>
                </c:pt>
                <c:pt idx="8">
                  <c:v>9일차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4</c:v>
                </c:pt>
                <c:pt idx="2">
                  <c:v>6</c:v>
                </c:pt>
                <c:pt idx="3">
                  <c:v>18</c:v>
                </c:pt>
                <c:pt idx="4">
                  <c:v>25</c:v>
                </c:pt>
                <c:pt idx="5">
                  <c:v>28</c:v>
                </c:pt>
                <c:pt idx="6">
                  <c:v>45</c:v>
                </c:pt>
                <c:pt idx="7">
                  <c:v>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464646"/>
                    </a:solidFill>
                    <a:latin typeface="맑은 고딕"/>
                  </a:rPr>
                  <a:t>접수일차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.0"/>
          <c:min val="-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300" b="0">
                    <a:solidFill>
                      <a:srgbClr val="1E1E1E"/>
                    </a:solidFill>
                    <a:latin typeface="맑은 고딕"/>
                  </a:rPr>
                  <a:t>누적 지원인원</a:t>
                </a:r>
              </a:p>
            </c:rich>
          </c:tx>
          <c:layout/>
          <c:overlay val="0"/>
        </c:title>
        <c:numFmt formatCode="#,##0;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2118791784"/>
        <c:crosses val="autoZero"/>
        <c:majorUnit val="100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91440"/>
            <a:ext cx="11338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1E1E1E"/>
                </a:solidFill>
                <a:latin typeface="맑은 고딕"/>
              </a:rPr>
              <a:t>창의도전전형 · 일자별 누적 지원인원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56692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464646"/>
                </a:solidFill>
                <a:latin typeface="맑은 고딕"/>
              </a:rPr>
              <a:t>2026학년도 모집 200명 · 최종 1,889명 · 9.45:1     |     2027학년도 모집 270명 · 현재 1,682명 · 6.23:1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097280"/>
          <a:ext cx="1110996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91440"/>
            <a:ext cx="11338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1E1E1E"/>
                </a:solidFill>
                <a:latin typeface="맑은 고딕"/>
              </a:rPr>
              <a:t>학교장추천전형 · 일자별 누적 지원인원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56692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464646"/>
                </a:solidFill>
                <a:latin typeface="맑은 고딕"/>
              </a:rPr>
              <a:t>2026학년도 모집 85명 · 최종 1,313명 · 15.45:1     |     2027학년도 모집 85명 · 현재 402명 · 4.73:1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097280"/>
          <a:ext cx="1110996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91440"/>
            <a:ext cx="11338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1E1E1E"/>
                </a:solidFill>
                <a:latin typeface="맑은 고딕"/>
              </a:rPr>
              <a:t>일반전형 · 일자별 누적 지원인원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56692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464646"/>
                </a:solidFill>
                <a:latin typeface="맑은 고딕"/>
              </a:rPr>
              <a:t>2026학년도 모집 350명 · 최종 2,675명 · 7.64:1     |     2027학년도 모집 380명 · 현재 1,870명 · 4.92:1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097280"/>
          <a:ext cx="1110996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91440"/>
            <a:ext cx="11338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1E1E1E"/>
                </a:solidFill>
                <a:latin typeface="맑은 고딕"/>
              </a:rPr>
              <a:t>고른기회전형 · 일자별 누적 지원인원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56692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464646"/>
                </a:solidFill>
                <a:latin typeface="맑은 고딕"/>
              </a:rPr>
              <a:t>2026학년도 모집 60명 · 최종 457명 · 7.62:1     |     2027학년도 모집 60명 · 현재 258명 · 4.30:1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097280"/>
          <a:ext cx="1110996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91440"/>
            <a:ext cx="11338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1E1E1E"/>
                </a:solidFill>
                <a:latin typeface="맑은 고딕"/>
              </a:rPr>
              <a:t>특기자전형 · 일자별 누적 지원인원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56692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464646"/>
                </a:solidFill>
                <a:latin typeface="맑은 고딕"/>
              </a:rPr>
              <a:t>2026학년도 모집 30명 · 최종 237명 · 7.90:1     |     2027학년도 모집 30명 · 현재 132명 · 4.40:1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097280"/>
          <a:ext cx="1110996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91440"/>
            <a:ext cx="11338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1E1E1E"/>
                </a:solidFill>
                <a:latin typeface="맑은 고딕"/>
              </a:rPr>
              <a:t>반도체시스템인재전형 · 일자별 누적 지원인원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56692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464646"/>
                </a:solidFill>
                <a:latin typeface="맑은 고딕"/>
              </a:rPr>
              <a:t>2026학년도 모집 100명 · 최종 420명 · 4.20:1     |     2027학년도 모집 40명 · 현재 72명 · 1.80:1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097280"/>
          <a:ext cx="1110996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